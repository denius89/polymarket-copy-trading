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66aeb8e17e440a" /><Relationship Type="http://schemas.openxmlformats.org/officeDocument/2006/relationships/extended-properties" Target="/docProps/app.xml" Id="R16b83a7dea32417b" /><Relationship Type="http://schemas.openxmlformats.org/officeDocument/2006/relationships/officeDocument" Target="/ppt/presentation.xml" Id="R99291af72b2a41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1c8fe287d894179"/>
  </p:sldMasterIdLst>
  <p:notesMasterIdLst>
    <p:notesMasterId xmlns:r="http://schemas.openxmlformats.org/officeDocument/2006/relationships" r:id="R34b8c49f0d2f4c9a"/>
  </p:notesMasterIdLst>
  <p:sldIdLst>
    <p:sldId xmlns:r="http://schemas.openxmlformats.org/officeDocument/2006/relationships" id="256" r:id="Re63709fa46e74466"/>
    <p:sldId xmlns:r="http://schemas.openxmlformats.org/officeDocument/2006/relationships" id="257" r:id="R2c190b03ec4d4bba"/>
    <p:sldId xmlns:r="http://schemas.openxmlformats.org/officeDocument/2006/relationships" id="258" r:id="Re18a37e931e94029"/>
    <p:sldId xmlns:r="http://schemas.openxmlformats.org/officeDocument/2006/relationships" id="259" r:id="R2496eae5c48e4564"/>
    <p:sldId xmlns:r="http://schemas.openxmlformats.org/officeDocument/2006/relationships" id="260" r:id="R6e3bee761c754387"/>
    <p:sldId xmlns:r="http://schemas.openxmlformats.org/officeDocument/2006/relationships" id="261" r:id="R3d323357e8684113"/>
    <p:sldId xmlns:r="http://schemas.openxmlformats.org/officeDocument/2006/relationships" id="262" r:id="Reb456f336cc14020"/>
    <p:sldId xmlns:r="http://schemas.openxmlformats.org/officeDocument/2006/relationships" id="263" r:id="R7cd4be103a4e443a"/>
    <p:sldId xmlns:r="http://schemas.openxmlformats.org/officeDocument/2006/relationships" id="264" r:id="Rb2a28b65fa5a46da"/>
    <p:sldId xmlns:r="http://schemas.openxmlformats.org/officeDocument/2006/relationships" id="265" r:id="Rbb04ba00ea8042db"/>
    <p:sldId xmlns:r="http://schemas.openxmlformats.org/officeDocument/2006/relationships" id="266" r:id="R6be1f2f6a94b4e05"/>
    <p:sldId xmlns:r="http://schemas.openxmlformats.org/officeDocument/2006/relationships" id="267" r:id="Ra7442637407c4a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94b2f56376491c" /><Relationship Type="http://schemas.openxmlformats.org/officeDocument/2006/relationships/slideMaster" Target="/ppt/slideMasters/slideMaster1.xml" Id="R61c8fe287d894179" /><Relationship Type="http://schemas.openxmlformats.org/officeDocument/2006/relationships/notesMaster" Target="/ppt/notesMasters/notesMaster1.xml" Id="R34b8c49f0d2f4c9a" /><Relationship Type="http://schemas.openxmlformats.org/officeDocument/2006/relationships/presProps" Target="/ppt/presProps.xml" Id="R6417b6f2ee6344e9" /><Relationship Type="http://schemas.openxmlformats.org/officeDocument/2006/relationships/tableStyles" Target="/ppt/tableStyles.xml" Id="Rb718f8b66f414eac" /><Relationship Type="http://schemas.openxmlformats.org/officeDocument/2006/relationships/slide" Target="/ppt/slides/slide1.xml" Id="Re63709fa46e74466" /><Relationship Type="http://schemas.openxmlformats.org/officeDocument/2006/relationships/slide" Target="/ppt/slides/slide2.xml" Id="R2c190b03ec4d4bba" /><Relationship Type="http://schemas.openxmlformats.org/officeDocument/2006/relationships/slide" Target="/ppt/slides/slide3.xml" Id="Re18a37e931e94029" /><Relationship Type="http://schemas.openxmlformats.org/officeDocument/2006/relationships/slide" Target="/ppt/slides/slide4.xml" Id="R2496eae5c48e4564" /><Relationship Type="http://schemas.openxmlformats.org/officeDocument/2006/relationships/slide" Target="/ppt/slides/slide5.xml" Id="R6e3bee761c754387" /><Relationship Type="http://schemas.openxmlformats.org/officeDocument/2006/relationships/slide" Target="/ppt/slides/slide6.xml" Id="R3d323357e8684113" /><Relationship Type="http://schemas.openxmlformats.org/officeDocument/2006/relationships/slide" Target="/ppt/slides/slide7.xml" Id="Reb456f336cc14020" /><Relationship Type="http://schemas.openxmlformats.org/officeDocument/2006/relationships/slide" Target="/ppt/slides/slide8.xml" Id="R7cd4be103a4e443a" /><Relationship Type="http://schemas.openxmlformats.org/officeDocument/2006/relationships/slide" Target="/ppt/slides/slide9.xml" Id="Rb2a28b65fa5a46da" /><Relationship Type="http://schemas.openxmlformats.org/officeDocument/2006/relationships/slide" Target="/ppt/slides/slide10.xml" Id="Rbb04ba00ea8042db" /><Relationship Type="http://schemas.openxmlformats.org/officeDocument/2006/relationships/slide" Target="/ppt/slides/slide11.xml" Id="R6be1f2f6a94b4e05" /><Relationship Type="http://schemas.openxmlformats.org/officeDocument/2006/relationships/slide" Target="/ppt/slides/slide12.xml" Id="Ra7442637407c4a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01314116ba4b7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a6dbea38774684" /><Relationship Type="http://schemas.openxmlformats.org/officeDocument/2006/relationships/notesMaster" Target="/ppt/notesMasters/notesMaster1.xml" Id="R3b725afba0a744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df50d87f894161" /><Relationship Type="http://schemas.openxmlformats.org/officeDocument/2006/relationships/notesMaster" Target="/ppt/notesMasters/notesMaster1.xml" Id="R3d4cb8f8b4784d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05feec6d31441f" /><Relationship Type="http://schemas.openxmlformats.org/officeDocument/2006/relationships/notesMaster" Target="/ppt/notesMasters/notesMaster1.xml" Id="R500fbcb195194ba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b694fba1cd04f3a" /><Relationship Type="http://schemas.openxmlformats.org/officeDocument/2006/relationships/notesMaster" Target="/ppt/notesMasters/notesMaster1.xml" Id="R870d426474c549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044809dfe44ee9" /><Relationship Type="http://schemas.openxmlformats.org/officeDocument/2006/relationships/notesMaster" Target="/ppt/notesMasters/notesMaster1.xml" Id="R262e3faf57ae42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867bc3de3a4680" /><Relationship Type="http://schemas.openxmlformats.org/officeDocument/2006/relationships/notesMaster" Target="/ppt/notesMasters/notesMaster1.xml" Id="Rb9ef204d44c54d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a33482feeb4a31" /><Relationship Type="http://schemas.openxmlformats.org/officeDocument/2006/relationships/notesMaster" Target="/ppt/notesMasters/notesMaster1.xml" Id="R3230c040a4a44e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ce0d4e0c534421a" /><Relationship Type="http://schemas.openxmlformats.org/officeDocument/2006/relationships/notesMaster" Target="/ppt/notesMasters/notesMaster1.xml" Id="R0a0f1931e076433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819dd508944971" /><Relationship Type="http://schemas.openxmlformats.org/officeDocument/2006/relationships/notesMaster" Target="/ppt/notesMasters/notesMaster1.xml" Id="R8f7146df584a48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39cceee9e44bee" /><Relationship Type="http://schemas.openxmlformats.org/officeDocument/2006/relationships/notesMaster" Target="/ppt/notesMasters/notesMaster1.xml" Id="R3bcd21c83945469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8f3ab7af5b470a" /><Relationship Type="http://schemas.openxmlformats.org/officeDocument/2006/relationships/notesMaster" Target="/ppt/notesMasters/notesMaster1.xml" Id="R857dbdcbfc0643a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42aeb506994616" /><Relationship Type="http://schemas.openxmlformats.org/officeDocument/2006/relationships/notesMaster" Target="/ppt/notesMasters/notesMaster1.xml" Id="R7c7686f6f09a42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Версия v5 закрепляет Polymarket и Limitless как две обязательные площадки продукта. Общий core остаётся venue-neutral, live-доступы включаются отдельно.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 сформулирована как набор проверяемых факторов: доступный размер, фактическая цена, полная стоимость и сохранение контроля.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Сегменты баланса — коммерческие ориентиры, а не технические минимумы. Сервис не принимает локальные деньги и не интегрируется с MobCash; агентский обмен находится вне продукта.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Shadow-copy — 72-часовая симуляция на живых данных без размещения реальных ордеров. Пользователь может выбрать трейдера из рейтинга или вставить адрес.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Старый вход помечается STALE и пропускается. Старый выход не пропускается вслепую: состояние сначала сверяется. Критические ошибки и остановки уведомляются сразу.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Polyfox рассматривается как прямой аналог. Указанная комиссия 1% основана на пользовательской информации проекта; перед внешней публикацией требуется повторная проверка актуальных условий. Сравнение не является исчерпывающим аудитом конкурента.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Polymarket и Limitless обязательны по ADR-0008. Paper mode должен моделировать обе площадки. Limitless идёт первым партнёрским spike; Polymarket Builder/Session Keys проверяются параллельно. Автоматический cross-venue mapping не входит в первую версию.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Ручное, защитное и аварийное закрытие не облагается сервисной комиссией. Нет комиссии за депозит, вывод, подключение трейдера, неисполненные заявки или аналитику. VIP-ставки — пределы, не стандартный тариф.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Расчёт первого платного тарифа: 62,5% taker × 0,50% + 37,5% maker × 0,25% = 0,40625%. Подтверждённый тариф: 62,5% × 0,75% + 37,5% × 0,35% = 0,60%. Это сценарий, а не прогноз дохода.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Ставки: 25% на старте, 30% после подтверждения результатов, до 35% для стратегических VIP-партнёров. Агент получает долю только от реально полученной сервисной комиссии.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Критерии — исследовательские ворота, а не подтверждение product-market fit. MVP и реальные ордера остаются на паузе до продуктовых, технических, security и legal-gates.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Заключительный слайд для обсуждения с партнёрами и знакомыми. Не является предложением инвестировать, финансовой рекомендацией или обещанием доходности.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56c33f0980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411f792d924ae3" /><Relationship Type="http://schemas.openxmlformats.org/officeDocument/2006/relationships/slideLayout" Target="/ppt/slideLayouts/slideLayout1.xml" Id="R1e28e175e6be46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28e175e6be46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3f7883eb0476c" /><Relationship Type="http://schemas.openxmlformats.org/officeDocument/2006/relationships/image" Target="/ppt/media/image.png" Id="Rf02c27ce23e54a06" /><Relationship Type="http://schemas.openxmlformats.org/officeDocument/2006/relationships/notesSlide" Target="/ppt/notesSlides/notesSlide1.xml" Id="R733d7c27769c40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cc12deb6e542fe" /><Relationship Type="http://schemas.openxmlformats.org/officeDocument/2006/relationships/notesSlide" Target="/ppt/notesSlides/notesSlide2.xml" Id="R85cd77ba688840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0473b67b247a0" /><Relationship Type="http://schemas.openxmlformats.org/officeDocument/2006/relationships/notesSlide" Target="/ppt/notesSlides/notesSlide3.xml" Id="R93ee899e11f2421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7e0d79655439a" /><Relationship Type="http://schemas.openxmlformats.org/officeDocument/2006/relationships/notesSlide" Target="/ppt/notesSlides/notesSlide4.xml" Id="Rd0a46cc64ffc4f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30437dc3c46db" /><Relationship Type="http://schemas.openxmlformats.org/officeDocument/2006/relationships/notesSlide" Target="/ppt/notesSlides/notesSlide5.xml" Id="Rcb3c0e38216e4b1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6c860f037148a1" /><Relationship Type="http://schemas.openxmlformats.org/officeDocument/2006/relationships/notesSlide" Target="/ppt/notesSlides/notesSlide6.xml" Id="R5b7190c2feeb43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f0c5819f145ee" /><Relationship Type="http://schemas.openxmlformats.org/officeDocument/2006/relationships/notesSlide" Target="/ppt/notesSlides/notesSlide7.xml" Id="R61b6dffded4e40b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274c57baa4025" /><Relationship Type="http://schemas.openxmlformats.org/officeDocument/2006/relationships/notesSlide" Target="/ppt/notesSlides/notesSlide8.xml" Id="R4cf5bef9731c4fd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4e93a3b0f442b" /><Relationship Type="http://schemas.openxmlformats.org/officeDocument/2006/relationships/notesSlide" Target="/ppt/notesSlides/notesSlide9.xml" Id="R0e0f77efb1004a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2ed80b425d4a4e" /><Relationship Type="http://schemas.openxmlformats.org/officeDocument/2006/relationships/notesSlide" Target="/ppt/notesSlides/notesSlide10.xml" Id="R3b9b7bdb437f4b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b9dca2f994461" /><Relationship Type="http://schemas.openxmlformats.org/officeDocument/2006/relationships/notesSlide" Target="/ppt/notesSlides/notesSlide11.xml" Id="R3f8cca58ce704e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bc2daa85ed4624" /><Relationship Type="http://schemas.openxmlformats.org/officeDocument/2006/relationships/notesSlide" Target="/ppt/notesSlides/notesSlide12.xml" Id="R959b693a34f94a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c27ce23e54a0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7A0458-DA7F-4A8E-9AA7-13332A9EC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33C6CD-AADB-4379-BB58-08994B0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905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Контролируемое</a:t>
            </a:r>
          </a:p>
          <a:p xmlns:a="http://schemas.openxmlformats.org/drawingml/2006/main">
            <a:pPr algn="l">
              <a:buNone/>
              <a:defRPr sz="34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копирование сделок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CE91F1-08EC-402B-B097-288FC7E57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45D6E6"/>
                </a:solidFill>
                <a:latin typeface="Arial"/>
                <a:ea typeface="Arial"/>
                <a:cs typeface="Arial"/>
              </a:rPr>
              <a:t>Polymarket + Limitless · единый контроль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0542C-8612-4A75-B5AC-851650B82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5287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E8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8EE"/>
                </a:solidFill>
                <a:latin typeface="Arial"/>
                <a:ea typeface="Arial"/>
                <a:cs typeface="Arial"/>
              </a:rPr>
              <a:t>Сначала проверяем копируемость под бюджет —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D8E8E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8E8EE"/>
                </a:solidFill>
                <a:latin typeface="Arial"/>
                <a:ea typeface="Arial"/>
                <a:cs typeface="Arial"/>
              </a:rPr>
              <a:t>затем автоматизируем с понятными лимитами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BD7C4A-0FF6-4329-8B0A-7BCC1BBE0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89A8B8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89A8B8"/>
                </a:solidFill>
                <a:latin typeface="Arial"/>
                <a:ea typeface="Arial"/>
                <a:cs typeface="Arial"/>
              </a:rPr>
              <a:t>Концепция v5 · сентябрь 2026</a:t>
            </a:r>
          </a:p>
        </p:txBody>
      </p:sp>
    </p:spTree>
    <p:extLst>
      <p:ext uri="{BB962C8B-B14F-4D97-AF65-F5344CB8AC3E}">
        <p14:creationId xmlns:p14="http://schemas.microsoft.com/office/powerpoint/2010/main" val="979266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4B4E0-0FC6-40F2-8ABF-0ADA388B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Успешный трейдер ≠ повторимый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4EA85D-D7CB-4EFD-A6B8-4EA8160B6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Небольшой бюджет усиливает влияние цены, задержки и комиссий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F1E88B-7674-45E0-8EE7-CDD9F8946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17D85-273D-4D61-A51E-6786A0E6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89ECE-15FA-420C-AF56-C13E16CA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383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Доступный размер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73AD66-AEBC-446A-A5BA-C594A7DB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002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Минимальный ордер и ликвидность могут сделать сделку недоступной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7E1481-9249-444E-BC86-70BEF79B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46C49-F4F8-4A50-9AB9-92B452DEB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432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710FE0-7644-4E48-AA3A-332356788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051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Цена исполнения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25B236-9033-4538-9A9C-C76E059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670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Копия приходит позже и получает другую цену или частичный fill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1514A-2952-402A-84F2-E47C68B3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909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5B1909-011F-4B9D-B9F2-43F2395C3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657BAA-BDDC-41A1-A524-8E5F71C5E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7719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Стоимость стратегии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F3EEF-FA54-4D34-A1B8-1D02EBEE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338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Комиссии и частый оборот могут съесть ожидаемую доходность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9AEB3-1F03-4544-A951-4355F4B4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577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24713-7877-4CB0-A8B3-548F77B6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76800"/>
            <a:ext cx="590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225619-7A06-4856-BEC7-FCCD8D08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38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Контроль риска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D741B-9FEE-4A3A-BD9E-B29E550F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2006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После входа нужны понятные лимиты, пауза и ручное закрытие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F4A8A-2B60-48EF-B655-86AC22BF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724525"/>
            <a:ext cx="923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7EEF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BAC0D3-F43A-44B8-A0CF-616ADA3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8165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Нужна проверка копируемости до реальных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81ADF2-8C37-4A16-988A-80A622D1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EC52E9-6F95-4E95-A6B4-074A5CA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345965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894A95-A0A7-44A2-A68D-28E27B3C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Для кого проверяем первую версию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6D11D-1906-43BE-96E9-B7CE5969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Мобильный пользователь из агентского канала, знакомый с USDT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DBD716-E8BD-4632-9596-85275C48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81E84-9CA5-4849-8A0A-6BE582400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Первый пользователь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E890A3-4393-4E1B-8D24-85D4A3F3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использует смартфон как основной экран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покупает USDT у внешнего агента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готов тестировать с $50–200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хочет простой вход на нативном языке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FACE6-F989-4B4B-8110-3CC78C1A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Канал привлечения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D303E-D4D8-45B0-9DEB-823C4AE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7625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агенты уже работают с этой аудиторией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сервис не принимает локальные платежи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 помогает купить или продать USDT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93A"/>
                </a:solidFill>
                <a:latin typeface="Arial"/>
                <a:ea typeface="Arial"/>
                <a:cs typeface="Arial"/>
              </a:rPr>
              <a:t>проект даёт готовую модель привлечения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122B2-7C61-4B1C-9085-20E3A7399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57350"/>
            <a:ext cx="4857750" cy="4095750"/>
          </a:xfrm>
          <a:prstGeom xmlns:a="http://schemas.openxmlformats.org/drawingml/2006/main" prst="roundRect">
            <a:avLst>
              <a:gd name="adj" fmla="val 5581"/>
            </a:avLst>
          </a:prstGeom>
          <a:solidFill xmlns:a="http://schemas.openxmlformats.org/drawingml/2006/main">
            <a:srgbClr val="0B243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6DB4D6-46BD-4E25-84D7-7E31B30A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193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Коммерческий ориентир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A21CC-2CCB-446C-B043-1BB264DF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9555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$150–200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ED1E1-7429-447E-AD2F-7A42C779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100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7526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58937-3FA7-4CC8-8A89-BB4EF9D6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457700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BED2D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ED2DC"/>
                </a:solidFill>
                <a:latin typeface="Arial"/>
                <a:ea typeface="Arial"/>
                <a:cs typeface="Arial"/>
              </a:rPr>
              <a:t>$50–149 — тестовый сегмент
$500+ — устойчивее для экономики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A8FF1-BDFF-4FD3-9F07-26455E8C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989E58-3EDC-478F-A430-9BAA04C1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241424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4C885-2AD0-4A97-A62A-A8210095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Путь от интереса до автоматизации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3434B-B616-4360-8C9A-3192F06C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Каждый шаг снижает риск до первой реальной сделки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CC63C1-ECA0-4F63-99EA-96D7291C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7C181-2392-4FBB-BFD2-CBCEDEDC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67050"/>
            <a:ext cx="952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ED1D8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084734-28E2-4CB7-9157-BF921E5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9296ED-CF1F-4A8D-B6CA-80DE36F5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0DC99-63E8-4960-9C28-E5BB8410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Вход по ссылке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B08511-A9BC-499D-ABB2-1993BC81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ссылка или код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DEDA1F-48E2-44B8-B975-73FD4FCB2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4EF897-C52B-4F27-AAC4-7742B9DD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16A25-5ED1-43CE-BE71-8D2A825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Бюджет и выбор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935D61-1E11-4EE0-B468-10636BFD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рейтинг / адрес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3C647F-B5D3-4A46-BCA6-5ACDB56F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1E44A0-3AFB-48DA-8D10-368614A0D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FC55DD-30DE-421B-B7B2-326B0CA33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Shadow 72 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0A5FFD-FB5A-49E4-9FA5-3A6C3D06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без реальных денег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22536E-EEB5-4069-AAF6-ED9BACD4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F8044-B444-4471-AEA7-2789B81A8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A02EFD-D086-47B2-B374-1C0FC025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Лимиты риска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B811B-A00B-44CC-96E5-97D34596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бюджет и покупки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FA1944-E468-4A77-B670-13FC7650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6286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BE95D9-AD7C-4A29-8551-E3A3BF7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628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986BAF-4802-4902-BC0F-A5C46D70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19500"/>
            <a:ext cx="1428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Автокопия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00C859-69BA-47C1-8614-9FA0CC6F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1910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fills и контроль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D3E0E9-47BF-4176-8833-E3E5D131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48250"/>
            <a:ext cx="8724900" cy="704850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EAF6F4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EEF75-0F53-4D99-8EEC-7FDDF259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5153025"/>
            <a:ext cx="7962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Система показывает, что исполнено, пропущено и сколько это стоило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844C33-6680-4680-9572-BAA16B49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1FB71-0603-4B4A-AE2C-2755016E5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980272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A8E8EE-E4C7-40A4-BD52-9677DA54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Контроль остаётся у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B7D2EC-9B87-4B90-A2B4-F1BEAA3C9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7D2"/>
                </a:solidFill>
                <a:latin typeface="Arial"/>
                <a:ea typeface="Arial"/>
                <a:cs typeface="Arial"/>
              </a:rPr>
              <a:t>Лимиты понятны до запуска и действуют на каждую новую сделку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BF639-1357-45CB-9FF6-2F23AD8A3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495550"/>
            <a:ext cx="1524000" cy="1524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394C"/>
          </a:solidFill>
          <a:ln xmlns:a="http://schemas.openxmlformats.org/drawingml/2006/main" w="9525">
            <a:solidFill>
              <a:srgbClr val="2B6B79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680272-C722-4861-972B-09CBF54B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914650"/>
            <a:ext cx="1257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ЛИМИТЫ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3BF5DB-B0CD-4CFD-874F-AD522B22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0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Бюджет трейдера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D99D60-7B8C-4C1D-9EFE-98EBB136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$50 = максимум $50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2227B-9CBA-437E-95B0-D44E31A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957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Дневные покупки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D02927-76EE-4E39-A32E-5AC9F728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52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новый риск ограничен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10A16-9409-4267-8DA0-B42742A9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Устаревшие сделки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6F4101-D8A4-457D-9546-339A35D1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76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поздний вход пропускается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11A7A-2EF2-4F94-92E9-FF761002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Объяснимость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08500-2068-4393-A194-7A4528FF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цена, задержка, причина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2FE2DF-425D-4539-81E4-792A666D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76250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Пауза и выход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2C8477-CF23-4A19-B84C-54616059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197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B7CAD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7CAD3"/>
                </a:solidFill>
                <a:latin typeface="Arial"/>
                <a:ea typeface="Arial"/>
                <a:cs typeface="Arial"/>
              </a:rPr>
              <a:t>ручное закрытие: 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9A411D-BA5E-4987-97CB-A657BE1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52700"/>
            <a:ext cx="1847850" cy="495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2EF499-1937-47FC-8776-442494520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38600"/>
            <a:ext cx="184785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CE26BD-19C7-4710-8025-884715F3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33600"/>
            <a:ext cx="704850" cy="723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4E0FD5-10D7-4E31-B9E3-F277BDDDC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76600"/>
            <a:ext cx="125730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39296F-CCB8-4BCF-AFDC-A95DEE0BA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33800"/>
            <a:ext cx="704850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D6070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A48746-B983-440F-8FCF-62DB9F9DE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291417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DB241-C1EE-488F-B616-8A8090E9A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Почему одного backtest недостаточно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D8FC-2329-488A-AF75-BB624226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Polyfox — прямой аналог; наш фокус — достижимый результат копировщика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9A483E-5775-4B1D-8FA0-823985D5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67640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3429000"/>
                <a:gridCol w="4152900"/>
              </a:tblGrid>
              <a:tr h="530679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Критерий</a:t>
                      </a:r>
                    </a:p>
                  </a:txBody>
                  <a:tcPr marL="91440" marR="91440" marT="45720" marB="45720">
                    <a:solidFill>
                      <a:srgbClr val="0B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Polyfox</a:t>
                      </a:r>
                    </a:p>
                  </a:txBody>
                  <a:tcPr marL="91440" marR="91440" marT="45720" marB="45720">
                    <a:solidFill>
                      <a:srgbClr val="0B24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Наш подход</a:t>
                      </a:r>
                    </a:p>
                  </a:txBody>
                  <a:tcPr marL="91440" marR="91440" marT="45720" marB="45720">
                    <a:solidFill>
                      <a:srgbClr val="087F75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Проверка стратегии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Backtest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Live shadow 72 часа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Комиссия сервиса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1% с исполнения*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Maker 0,25–0,35%; taker 0,50–0,75%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Результат копировщика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Бэктест стратегии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Фактический shadow P&amp;L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Управление позицией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Ограничено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Пауза, detach, ручной выход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Объяснение исполнения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Неполное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Цена, задержка, причина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Риск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0293A"/>
                          </a:solidFill>
                          <a:latin typeface="Arial"/>
                          <a:ea typeface="Arial"/>
                          <a:cs typeface="Arial"/>
                        </a:rPr>
                        <a:t>Базовые настройки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87F75"/>
                          </a:solidFill>
                          <a:latin typeface="Arial"/>
                          <a:ea typeface="Arial"/>
                          <a:cs typeface="Arial"/>
                        </a:rPr>
                        <a:t>Бюджет трейдера + дневной лимит</a:t>
                      </a:r>
                    </a:p>
                  </a:txBody>
                  <a:tcPr marL="91440" marR="91440" marT="45720" marB="45720">
                    <a:solidFill>
                      <a:srgbClr val="F4F8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5D4817-4C49-4B09-A9EC-E8BD0E96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197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E96B62"/>
                </a:solidFill>
                <a:latin typeface="Arial"/>
                <a:ea typeface="Arial"/>
                <a:cs typeface="Arial"/>
              </a:rPr>
              <a:t>* Условия конкурента перепроверяем перед публичным использованием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EF6F4-2244-4224-AF9F-CBBBA5AC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68B02A-06E5-422E-91A3-92193802E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864730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E71057-7A7E-42E7-A8DC-6629E056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Две обязательные площадки — один слой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E98113-0C57-43A2-ABB0-37B64A51C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Общий core · отдельные adapters · раздельные live-gates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518066-E878-4075-A6D5-130C5EF3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CDCC3-E975-4273-B1DD-4AE0C7B6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71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Известность и пользовательский охват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0314D1-4859-4B51-9B1D-F9205C298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Polymarket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2362C-CD8D-421E-9E0F-9EC77F574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сильный пользовательский бренд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зрелая ликвидность и лидеры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Builder + Session Keys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параллельный integration track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12205-230A-4488-AF9F-C76016E1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09750"/>
            <a:ext cx="0" cy="3371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FCFD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C30CF0-C744-4B43-8FD5-A93E3143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Прямая партнёрская поддержка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E4D448-C6A6-427F-8826-A04C5740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Limitless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7E094-1D25-4F5C-8C3C-0E16FCE6F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0515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Programmatic API и sub-accounts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регистрация через FutureHaus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delegated signing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первый партнёрский spike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BA4A2-F875-486B-B328-6DF13EE0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24450"/>
            <a:ext cx="10020300" cy="571500"/>
          </a:xfrm>
          <a:prstGeom xmlns:a="http://schemas.openxmlformats.org/drawingml/2006/main" prst="roundRect">
            <a:avLst>
              <a:gd name="adj" fmla="val 23333"/>
            </a:avLst>
          </a:prstGeom>
          <a:solidFill xmlns:a="http://schemas.openxmlformats.org/drawingml/2006/main">
            <a:srgbClr val="DFEFE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617C6-1272-4226-B14B-C3A28B07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Research GEO: Сомали · Бангладеш · Марокко · Египет · Таиланд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0008C0-38EA-48CA-92A4-1E8949199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8F963-347F-4017-9F4C-A7401F8B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057441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AB396-53A0-44AF-9DB2-953D810F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Бизнес-модель растёт с доказанной ценностью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7BA1E-F54E-4196-A212-49CD6D887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AFC7D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AFC7D2"/>
                </a:solidFill>
                <a:latin typeface="Arial"/>
                <a:ea typeface="Arial"/>
                <a:cs typeface="Arial"/>
              </a:rPr>
              <a:t>Комиссия только за успешно исполненные автоматические сделки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8DAAC9-0550-4F5B-A536-D61684BEE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8770E-A3BC-4192-9CAE-F6C39EAC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7526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Закрытая альфа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CF830-C6C9-4FF4-9D88-9833CB8F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7526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0% maker / 0% taker · считаем виртуальную комиссию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BEF139-9283-42A5-BAAA-547DC3E0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62890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95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50F34-E816-4248-967E-E404F54C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539A5-E4DB-4453-8177-B3F8F051C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05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Первые платные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2C2862-9443-4884-A64D-52DBF93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1051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0,25% maker / 0,50% taker · агенту 25%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8C63C-739D-4EE2-9D2E-40D0DAD2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814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4495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29DD58-24A4-4621-A380-BB7C81421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AE222-2918-42EC-9377-A4D334E1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5770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Подтверждённый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0AF34-06AE-49E8-AFAD-604465ED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5770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4D6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4D6DE"/>
                </a:solidFill>
                <a:latin typeface="Arial"/>
                <a:ea typeface="Arial"/>
                <a:cs typeface="Arial"/>
              </a:rPr>
              <a:t>0,35% maker / 0,75% taker · агенту 25–30%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4E92A3-7D70-4949-893D-6A952AF46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516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A02D21-F4B3-436B-BA97-CC4173A5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9525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VIP-пределы: maker до 0,50% · taker до 1% · агенту до 35%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3C528A-3C74-4998-8A8A-62D65C2D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909779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6C5C7-9232-4BFA-B630-EC5EB571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Экономика одного активного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087FB4-8255-4376-9C33-6779577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$200 баланс · $800 автоматического оборота в месяц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EA83D0-3185-4203-8663-4E32C7198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87E116-FFEE-4436-ADA9-1F9C17E8F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7640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9FEF7-C441-42C4-8DE8-C14C4CE6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192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Средняя комиссия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C4DB8-95D8-42AB-A569-94A5E6DE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0,406% на первом платном тарифе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7879B-EF15-4A71-90E9-2AA12580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5D6E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E5393-659D-4977-9E63-65F7DC6E2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860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Комиссия пользователя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19CFDE-7608-4544-B310-FE1103D1A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8602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$3,25 в месяц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D48CC-ECE4-40D4-B3FF-7B960644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63436A-55F3-4B37-95ED-39F49800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528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Агенту 25%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BF614-5A00-41DE-8652-A9389B7A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5280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$0,81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7AE4D2-8CC6-4455-A83A-43975794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76725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3F8D3F-6DAD-49EC-BB40-2F03CF0C4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195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Сервису до расходов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C61819-03DB-4AF6-8AA9-BD6E239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19575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$2,44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A37F8A-24F5-4550-A8D6-4B1AEA59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1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6B6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33AE1F-A096-4324-BCFB-88D7994EA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8635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После подтверждения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EF0E2D-45A6-4884-9C09-FF652C4F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86350"/>
            <a:ext cx="64389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$4,80 комиссии · $1,20 агенту · $3,60 сервису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B563CA-B608-44AC-8C1A-9A7241A6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10191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4F2F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5E5FBB-A854-4B64-8C4A-AEAC0A9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4360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Вывод: агенту нужен объём клиентов; малые балансы дают мало выручки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A65073-A14C-4A2F-BA58-2B7AEDE25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576A29-A162-4FB5-A993-4667A734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385694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90F75-1513-4DC2-B541-4C3FFF55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Агентская модель: доля от комиссии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493B4-F653-4885-A9F8-D24C968A2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Простая схема, которую можно объяснить одним сообщением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D93DA-C446-48D1-ACBE-56EB393D0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FC3A25-BFF2-4C76-A53A-2676A547B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7335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Как начисляется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44630-AB40-464D-9F2B-CA301ABE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152650"/>
            <a:ext cx="323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доля агента =</a:t>
            </a:r>
          </a:p>
          <a:p xmlns:a="http://schemas.openxmlformats.org/drawingml/2006/main">
            <a:pPr algn="l">
              <a:buNone/>
              <a:defRPr sz="19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полученная комиссия × ставка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27AB9A-94E5-4B82-AA87-A2D4B47E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2766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E2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34E57-0A90-44A9-9CB1-20EF3BB8F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524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Закрепление клиента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C30E81-57FC-410D-8485-A471A6C8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67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24 месяца · lifetime только VIP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939EC-4322-412B-A20E-6942DD21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3624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7 дней pending · выплаты раз в 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3F240-CF7B-4752-B57D-564B86E2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010150"/>
            <a:ext cx="3238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E96B62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E96B62"/>
                </a:solidFill>
                <a:latin typeface="Arial"/>
                <a:ea typeface="Arial"/>
                <a:cs typeface="Arial"/>
              </a:rPr>
              <a:t>Минимум выплаты $25. Агенту нужен готовый пакет: ссылка, текст, демо, FAQ и dashboard.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2AC29-7A83-4580-BD2A-28B689F6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6BAD90-3D2C-415B-8580-C92A37F17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904C8F-A0D1-441B-B55D-4A7DA590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9525">
            <a:solidFill>
              <a:srgbClr val="087F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4498B-7E66-45AA-A077-4D6E29C21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87F7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87F75"/>
                </a:solidFill>
                <a:latin typeface="Arial"/>
                <a:ea typeface="Arial"/>
                <a:cs typeface="Arial"/>
              </a:rPr>
              <a:t>25%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E2AB50-F879-4071-B0BA-08D748A33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СТАРТ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8EC6B1-2336-4B17-8720-E54CC261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базовая ставка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54F3E9-2DF3-4673-8B97-D1A8F10C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EAF1F4"/>
          </a:solidFill>
          <a:ln xmlns:a="http://schemas.openxmlformats.org/drawingml/2006/main" w="9525">
            <a:solidFill>
              <a:srgbClr val="0B243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F69065-21A6-487F-BC00-FD58B5F6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B2436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436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E1DD6D-44C8-4786-A952-C7C1C5D21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ПОДТВЕРЖДЁННЫЙ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CB8056-A697-4E22-A7D7-F3EA3ACA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после результатов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8555B0-C6FE-4EB4-BD89-EE63343E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85950"/>
            <a:ext cx="2000250" cy="2952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D9642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92B512-72FE-49F8-BB84-22C90EC6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26695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D964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D9642C"/>
                </a:solidFill>
                <a:latin typeface="Arial"/>
                <a:ea typeface="Arial"/>
                <a:cs typeface="Arial"/>
              </a:rPr>
              <a:t>до 35%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E93DCC-D249-4A6A-BB70-15E04268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76600"/>
            <a:ext cx="1771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VIP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967137-1096-40A2-9127-662C027F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752850"/>
            <a:ext cx="1733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526774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774"/>
                </a:solidFill>
                <a:latin typeface="Arial"/>
                <a:ea typeface="Arial"/>
                <a:cs typeface="Arial"/>
              </a:rPr>
              <a:t>стратегический партнёр</a:t>
            </a:r>
          </a:p>
        </p:txBody>
      </p:sp>
    </p:spTree>
    <p:extLst>
      <p:ext uri="{BB962C8B-B14F-4D97-AF65-F5344CB8AC3E}">
        <p14:creationId xmlns:p14="http://schemas.microsoft.com/office/powerpoint/2010/main" val="434654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70E46B-B835-4428-9304-6E71CC2D1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Сначала доказываем идею без реальных денег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C685B0-997C-4CA6-853B-98F9F51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715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6–10 пользователей проходят 72-часовой live shadow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FA179-757E-4E5E-8044-03F2B738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DA5F6D-577F-44BB-9547-63D33007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84D1E-DA4E-4AC0-83A2-44BB9011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527E5-26BB-4402-9968-3409B5D7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00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Понимание ценности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ADED2F-AE34-4051-8597-819BB4AED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002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≥70% понимают пользу и отсутствие гарантии прибыли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B8CAF-A120-4BCF-B2BC-D170CF8C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764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17917-4FC4-44FB-86EB-DAB71306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0FAA36-A3B6-4E9E-BCB4-C545E1851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75A6D-BE4E-4115-A876-852714B0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4765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Польза shadow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3E5F4-8C44-4C70-A918-2EB675EE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765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≥50% считают live shadow полезнее одного backtest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1A3646-F2DD-4951-83CA-8F5AF64E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F1531A-E076-4115-9F9E-6A5A0F2E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90AFA1-0905-4305-B3BB-1DFAF2EA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C5644-0F8E-4B33-A132-AA542D35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Завершение теста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0F3D35-B18E-4CDA-BBE0-9770FEC5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528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≥3 проходят все 72 часа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332C89-1D26-4065-81C6-3F47604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8290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E22FA2-DD2C-413D-B605-65AE4687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A93B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77F9B-C56F-48BF-A87B-BDC931AA5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345295-4CFC-44C2-96D7-AEF01362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291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Готовность платить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F30435-EB1B-430F-88B5-C4268F7C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291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≥2 готовы обсудить будущую автоматизацию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52D1F8-2CF3-4818-BF49-6516CEF6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05350"/>
            <a:ext cx="0" cy="419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8CB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F28C2C-628A-4D2C-ACE0-46EA4433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B8A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A1AB8A-EB82-45DB-AA63-ACD138F4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244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088356-80D9-4516-9383-910BADB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054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9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93A"/>
                </a:solidFill>
                <a:latin typeface="Arial"/>
                <a:ea typeface="Arial"/>
                <a:cs typeface="Arial"/>
              </a:rPr>
              <a:t>Следующий gate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2934DF8-70F8-4D9A-974A-14CAE9E5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05400"/>
            <a:ext cx="5810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8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87080"/>
                </a:solidFill>
                <a:latin typeface="Arial"/>
                <a:ea typeface="Arial"/>
                <a:cs typeface="Arial"/>
              </a:rPr>
              <a:t>Только затем: Figma, техспайки, paper trading и альфа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3F12C-156C-4004-8B19-7941A4C2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960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Рабочая концепция · сентябрь 2026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75975F-736B-4D22-B319-B63B50D5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80939E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80939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0006653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8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79D5A8-3F00-4183-9130-E7AB8397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Почему идея может вырасти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6EAC7-30B3-4066-86C1-77C1B11E8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AFC8D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FC8D3"/>
                </a:solidFill>
                <a:latin typeface="Arial"/>
                <a:ea typeface="Arial"/>
                <a:cs typeface="Arial"/>
              </a:rPr>
              <a:t>Есть канал привлечения, понятная боль и модель дохода — риски ещё проверяются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849FC-7B5E-4A36-9B54-BC0B3CB4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860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6A86CC-965C-495D-8079-7FDDD818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79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Сильная сторона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E4A3C6-BE36-4FD0-95D5-15E775FF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479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Агентский канал даёт доступ к пользователям с USDT и интересом к новому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95BC4-EBCD-4A82-965C-BE9F9DB6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4805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2A93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2A93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1AE23E-555B-4F9F-9C29-BEE35C32E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40995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не доказано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81DFE9-620F-4D3C-B92C-93F090D4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Качество копирования, удержание, поддержка и допустимость по GEO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F7FEA-369F-44CD-82C5-65498BA61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10100"/>
            <a:ext cx="66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2B8A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2B8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043CB0-F8BA-4272-BFED-3A016D66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72000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Что нужно сейчас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138A5-9A1D-402E-BEF0-55841760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C5D7D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C5D7DE"/>
                </a:solidFill>
                <a:latin typeface="Arial"/>
                <a:ea typeface="Arial"/>
                <a:cs typeface="Arial"/>
              </a:rPr>
              <a:t>6–10 тестеров, отзывы партнёров, expertise по execution и безопасности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6F3E5-98BB-468D-8499-A66EA1A3A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10134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4B5B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EC9534-3C93-491C-8519-B9940767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45D6E6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45D6E6"/>
                </a:solidFill>
                <a:latin typeface="Arial"/>
                <a:ea typeface="Arial"/>
                <a:cs typeface="Arial"/>
              </a:rPr>
              <a:t>Следующий результат: доступы двух площадок, parallel latency spikes и агентский пакет v0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C716CC-EFBF-4F6B-865B-B2A5D7B0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6E8B9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E8B9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01870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2026-09-25T14:02:04.8620000Z</dcterms:created>
  <dcterms:modified xsi:type="dcterms:W3CDTF">2026-09-25T14:02:04.8620000Z</dcterms:modified>
</coreProperties>
</file>