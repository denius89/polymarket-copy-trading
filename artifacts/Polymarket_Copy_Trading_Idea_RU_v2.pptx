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0efb2aa2ee471a" /><Relationship Type="http://schemas.openxmlformats.org/officeDocument/2006/relationships/extended-properties" Target="/docProps/app.xml" Id="R6e3fe5a15f2a4051" /><Relationship Type="http://schemas.openxmlformats.org/officeDocument/2006/relationships/officeDocument" Target="/ppt/presentation.xml" Id="Rce30a4b926b941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10e54498884752"/>
  </p:sldMasterIdLst>
  <p:notesMasterIdLst>
    <p:notesMasterId xmlns:r="http://schemas.openxmlformats.org/officeDocument/2006/relationships" r:id="R959408a74d68471f"/>
  </p:notesMasterIdLst>
  <p:sldIdLst>
    <p:sldId xmlns:r="http://schemas.openxmlformats.org/officeDocument/2006/relationships" id="256" r:id="R4fedb435427a4b9c"/>
    <p:sldId xmlns:r="http://schemas.openxmlformats.org/officeDocument/2006/relationships" id="257" r:id="Rcda779742ff345c1"/>
    <p:sldId xmlns:r="http://schemas.openxmlformats.org/officeDocument/2006/relationships" id="258" r:id="Rc6dc40332d2f4472"/>
    <p:sldId xmlns:r="http://schemas.openxmlformats.org/officeDocument/2006/relationships" id="259" r:id="Rb14713d4b34844a6"/>
    <p:sldId xmlns:r="http://schemas.openxmlformats.org/officeDocument/2006/relationships" id="260" r:id="R75f95cd5e591499d"/>
    <p:sldId xmlns:r="http://schemas.openxmlformats.org/officeDocument/2006/relationships" id="261" r:id="Rc696d590fe7e4c8c"/>
    <p:sldId xmlns:r="http://schemas.openxmlformats.org/officeDocument/2006/relationships" id="262" r:id="R46ba5a08d5224a88"/>
    <p:sldId xmlns:r="http://schemas.openxmlformats.org/officeDocument/2006/relationships" id="263" r:id="Rf853d731caee4b58"/>
    <p:sldId xmlns:r="http://schemas.openxmlformats.org/officeDocument/2006/relationships" id="264" r:id="R8404dd07a75b4093"/>
    <p:sldId xmlns:r="http://schemas.openxmlformats.org/officeDocument/2006/relationships" id="265" r:id="R89a36a923a1041cd"/>
    <p:sldId xmlns:r="http://schemas.openxmlformats.org/officeDocument/2006/relationships" id="266" r:id="Ra96862a761d744f9"/>
    <p:sldId xmlns:r="http://schemas.openxmlformats.org/officeDocument/2006/relationships" id="267" r:id="R9cc39d0890d24c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e0bc412c6f4e5a" /><Relationship Type="http://schemas.openxmlformats.org/officeDocument/2006/relationships/slideMaster" Target="/ppt/slideMasters/slideMaster1.xml" Id="R6f10e54498884752" /><Relationship Type="http://schemas.openxmlformats.org/officeDocument/2006/relationships/notesMaster" Target="/ppt/notesMasters/notesMaster1.xml" Id="R959408a74d68471f" /><Relationship Type="http://schemas.openxmlformats.org/officeDocument/2006/relationships/presProps" Target="/ppt/presProps.xml" Id="R17512b8b987545a6" /><Relationship Type="http://schemas.openxmlformats.org/officeDocument/2006/relationships/tableStyles" Target="/ppt/tableStyles.xml" Id="Rd3695dcd7abc45a8" /><Relationship Type="http://schemas.openxmlformats.org/officeDocument/2006/relationships/slide" Target="/ppt/slides/slide1.xml" Id="R4fedb435427a4b9c" /><Relationship Type="http://schemas.openxmlformats.org/officeDocument/2006/relationships/slide" Target="/ppt/slides/slide2.xml" Id="Rcda779742ff345c1" /><Relationship Type="http://schemas.openxmlformats.org/officeDocument/2006/relationships/slide" Target="/ppt/slides/slide3.xml" Id="Rc6dc40332d2f4472" /><Relationship Type="http://schemas.openxmlformats.org/officeDocument/2006/relationships/slide" Target="/ppt/slides/slide4.xml" Id="Rb14713d4b34844a6" /><Relationship Type="http://schemas.openxmlformats.org/officeDocument/2006/relationships/slide" Target="/ppt/slides/slide5.xml" Id="R75f95cd5e591499d" /><Relationship Type="http://schemas.openxmlformats.org/officeDocument/2006/relationships/slide" Target="/ppt/slides/slide6.xml" Id="Rc696d590fe7e4c8c" /><Relationship Type="http://schemas.openxmlformats.org/officeDocument/2006/relationships/slide" Target="/ppt/slides/slide7.xml" Id="R46ba5a08d5224a88" /><Relationship Type="http://schemas.openxmlformats.org/officeDocument/2006/relationships/slide" Target="/ppt/slides/slide8.xml" Id="Rf853d731caee4b58" /><Relationship Type="http://schemas.openxmlformats.org/officeDocument/2006/relationships/slide" Target="/ppt/slides/slide9.xml" Id="R8404dd07a75b4093" /><Relationship Type="http://schemas.openxmlformats.org/officeDocument/2006/relationships/slide" Target="/ppt/slides/slide10.xml" Id="R89a36a923a1041cd" /><Relationship Type="http://schemas.openxmlformats.org/officeDocument/2006/relationships/slide" Target="/ppt/slides/slide11.xml" Id="Ra96862a761d744f9" /><Relationship Type="http://schemas.openxmlformats.org/officeDocument/2006/relationships/slide" Target="/ppt/slides/slide12.xml" Id="R9cc39d0890d24c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8f08988efd43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3b47a3c1c8439f" /><Relationship Type="http://schemas.openxmlformats.org/officeDocument/2006/relationships/notesMaster" Target="/ppt/notesMasters/notesMaster1.xml" Id="R8f532e9595ba41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d5fe9765384c45" /><Relationship Type="http://schemas.openxmlformats.org/officeDocument/2006/relationships/notesMaster" Target="/ppt/notesMasters/notesMaster1.xml" Id="R2c3551641e5d43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8896c400c1478b" /><Relationship Type="http://schemas.openxmlformats.org/officeDocument/2006/relationships/notesMaster" Target="/ppt/notesMasters/notesMaster1.xml" Id="R929c66ec9bb74d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909b8e9a11443e" /><Relationship Type="http://schemas.openxmlformats.org/officeDocument/2006/relationships/notesMaster" Target="/ppt/notesMasters/notesMaster1.xml" Id="R873b4358aee348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d5e55fa142426c" /><Relationship Type="http://schemas.openxmlformats.org/officeDocument/2006/relationships/notesMaster" Target="/ppt/notesMasters/notesMaster1.xml" Id="Rf834a5e2377246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9ca31919b64def" /><Relationship Type="http://schemas.openxmlformats.org/officeDocument/2006/relationships/notesMaster" Target="/ppt/notesMasters/notesMaster1.xml" Id="R8f0a340fd8574d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a164d43f0041e1" /><Relationship Type="http://schemas.openxmlformats.org/officeDocument/2006/relationships/notesMaster" Target="/ppt/notesMasters/notesMaster1.xml" Id="R6cb60c7f0f154c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13316abd754ffb" /><Relationship Type="http://schemas.openxmlformats.org/officeDocument/2006/relationships/notesMaster" Target="/ppt/notesMasters/notesMaster1.xml" Id="R0d1ae2a105904f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260d9b0d26440b" /><Relationship Type="http://schemas.openxmlformats.org/officeDocument/2006/relationships/notesMaster" Target="/ppt/notesMasters/notesMaster1.xml" Id="Ref6c63cc4af240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ee188c8c0b443e" /><Relationship Type="http://schemas.openxmlformats.org/officeDocument/2006/relationships/notesMaster" Target="/ppt/notesMasters/notesMaster1.xml" Id="Reeda550bdd8347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2962b3f97b4308" /><Relationship Type="http://schemas.openxmlformats.org/officeDocument/2006/relationships/notesMaster" Target="/ppt/notesMasters/notesMaster1.xml" Id="Rffaa34e40e074a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61d948e94e4291" /><Relationship Type="http://schemas.openxmlformats.org/officeDocument/2006/relationships/notesMaster" Target="/ppt/notesMasters/notesMaster1.xml" Id="Rebde7e03bc4345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Обложка. Изображение создано специально для этой презентации через OpenAI ImageGen, 23 сентября 2026 года.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пользовательский опыт основателя и handoff-бриф проекта Polymarket Copy Trading MVP. Наблюдения требуют дальнейшей фиксации скриншотами и UX-аудитом.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продуктовая концепция проекта, docs/01_product_and_economics.md.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техническая концепция проекта, docs/02_technical_concept.md. Внутренний виртуальный лот нужен, когда несколько лидеров торгуют одним outcome 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handoff-бриф и продуктовая концепция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пользовательское уточнение в проекте и handoff-бриф. Комиссия Polyfox: 1% с каждой сделки, включая отдельные операции покупки и продажи. Остальные оценки Polyfox основаны на пользовательском тесте и требуют полного UX-аудита.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Polymarket Documentation https://docs.polymarket.com/ и Limitless Documentation https://docs.limitless.exchange/. Limitless описывает REST/WebSocket API и работу на Base. Подключение Limitless остаётся гипотезой до проверки задержки, истории адресов, ликвидности, комиссий и географии.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стратегическая оценка проекта, docs/04_project_outlook.md. Это горизонты развития, а не прогноз или оценка вероятности успеха.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docs/04_project_outlook.md. Потенциальный moat: накопленные данные о достижимом исполнении, проверенная логика reconciliation, история risk engine и доверие пользователей. Интерфейс сам по себе легко повторить.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сценарная модель проекта, docs/01_product_and_economics.md. Предположения: закрытая альфа 20 пользователей, $80 тыс. месячного объёма, комиссия 0%; ранний продукт 100 пользователей, $750 тыс. объёма, комиссия 0,35%; рост 500 пользователей, $6 млн объёма, комиссия 0,35%. Все значения являются гипотезами.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план проекта, docs/03_execution_plan.md. Переход к публичному продукту и комиссии требует отдельных security- и legal-gates.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Заключительный слайд для обсуждения со знакомыми. Не содержит предложения инвестировать или обещания доходности.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b18f1a4984e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ee18ce2bc1456f" /><Relationship Type="http://schemas.openxmlformats.org/officeDocument/2006/relationships/slideLayout" Target="/ppt/slideLayouts/slideLayout1.xml" Id="R93902dac244442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902dac244442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bd966bed54983" /><Relationship Type="http://schemas.openxmlformats.org/officeDocument/2006/relationships/image" Target="/ppt/media/image.png" Id="Rd1ad1d48fe564495" /><Relationship Type="http://schemas.openxmlformats.org/officeDocument/2006/relationships/notesSlide" Target="/ppt/notesSlides/notesSlide1.xml" Id="Ra1bb064688c64a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7b0d5b4e0432d" /><Relationship Type="http://schemas.openxmlformats.org/officeDocument/2006/relationships/notesSlide" Target="/ppt/notesSlides/notesSlide2.xml" Id="Rc96f0486824348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b6d05a0d548ef" /><Relationship Type="http://schemas.openxmlformats.org/officeDocument/2006/relationships/notesSlide" Target="/ppt/notesSlides/notesSlide3.xml" Id="R2423713a840a4b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0db3c553a4ac7" /><Relationship Type="http://schemas.openxmlformats.org/officeDocument/2006/relationships/notesSlide" Target="/ppt/notesSlides/notesSlide4.xml" Id="R40c4daa5f0be48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9598a827d4110" /><Relationship Type="http://schemas.openxmlformats.org/officeDocument/2006/relationships/notesSlide" Target="/ppt/notesSlides/notesSlide5.xml" Id="R1c802e1c5c1045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19b23470b463b" /><Relationship Type="http://schemas.openxmlformats.org/officeDocument/2006/relationships/notesSlide" Target="/ppt/notesSlides/notesSlide6.xml" Id="R3cc1b905576840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16859d5e844b4" /><Relationship Type="http://schemas.openxmlformats.org/officeDocument/2006/relationships/notesSlide" Target="/ppt/notesSlides/notesSlide7.xml" Id="R255a19210dd347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06e81b9874570" /><Relationship Type="http://schemas.openxmlformats.org/officeDocument/2006/relationships/notesSlide" Target="/ppt/notesSlides/notesSlide8.xml" Id="R287e5364274f4a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68d4655444213" /><Relationship Type="http://schemas.openxmlformats.org/officeDocument/2006/relationships/notesSlide" Target="/ppt/notesSlides/notesSlide9.xml" Id="Re90b4caf08224c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ec14b4fdb457e" /><Relationship Type="http://schemas.openxmlformats.org/officeDocument/2006/relationships/chart" Target="/ppt/slides/charts/chart1.xml" Id="Ra68f2e4c2b784a1f" /><Relationship Type="http://schemas.openxmlformats.org/officeDocument/2006/relationships/notesSlide" Target="/ppt/notesSlides/notesSlide10.xml" Id="R73525c055af04e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0ca9a900748d4" /><Relationship Type="http://schemas.openxmlformats.org/officeDocument/2006/relationships/notesSlide" Target="/ppt/notesSlides/notesSlide11.xml" Id="Ra9df89b0b6164d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c8e448056401f" /><Relationship Type="http://schemas.openxmlformats.org/officeDocument/2006/relationships/notesSlide" Target="/ppt/notesSlides/notesSlide12.xml" Id="Rc87efa019f7945f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Месячная выручка</c:v>
          </c:tx>
          <c:spPr>
            <a:solidFill xmlns:a="http://schemas.openxmlformats.org/drawingml/2006/main">
              <a:srgbClr val="12B8A6"/>
            </a:solidFill>
          </c:spPr>
          <c:cat>
            <c:strRef>
              <c:f>'Chart Data'!$A$2:$A$4</c:f>
              <c:strCache>
                <c:ptCount val="3"/>
                <c:pt idx="0">
                  <c:v>Закрытая альфа</c:v>
                </c:pt>
                <c:pt idx="1">
                  <c:v>Ранний продукт</c:v>
                </c:pt>
                <c:pt idx="2">
                  <c:v>Рост</c:v>
                </c:pt>
              </c:strCache>
            </c:strRef>
          </c:cat>
          <c:val>
            <c:numRef>
              <c:f>'Chart Data'!$B$2:$B$4</c:f>
              <c:numCache>
                <c:formatCode>$#,##0</c:formatCode>
                <c:ptCount val="3"/>
                <c:pt idx="0">
                  <c:v>0</c:v>
                </c:pt>
                <c:pt idx="1">
                  <c:v>2625</c:v>
                </c:pt>
                <c:pt idx="2">
                  <c:v>21000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9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F1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6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d1d48fe56449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A0458-DA7F-4A8E-9AA7-13332A9E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3C6CD-AADB-4379-BB58-08994B03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Контролируемое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копирование сделок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E91F1-08EC-402B-B097-288FC7E5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D6E6"/>
                </a:solidFill>
                <a:latin typeface="Arial"/>
                <a:ea typeface="Arial"/>
                <a:cs typeface="Arial"/>
              </a:rPr>
              <a:t>Prediction markets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0542C-8612-4A75-B5AC-851650B8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8E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E8EE"/>
                </a:solidFill>
                <a:latin typeface="Arial"/>
                <a:ea typeface="Arial"/>
                <a:cs typeface="Arial"/>
              </a:rPr>
              <a:t>Прозрачный результат, управление каждой позицией</a:t>
            </a:r>
          </a:p>
          <a:p xmlns:a="http://schemas.openxmlformats.org/drawingml/2006/main">
            <a:pPr algn="l">
              <a:defRPr sz="1575" b="0">
                <a:solidFill>
                  <a:srgbClr val="D8E8E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E8EE"/>
                </a:solidFill>
                <a:latin typeface="Arial"/>
                <a:ea typeface="Arial"/>
                <a:cs typeface="Arial"/>
              </a:rPr>
              <a:t>и защита всего портфеля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D7C4A-0FF6-4329-8B0A-7BCC1BBE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A8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9A8B8"/>
                </a:solidFill>
                <a:latin typeface="Arial"/>
                <a:ea typeface="Arial"/>
                <a:cs typeface="Arial"/>
              </a:rPr>
              <a:t>Идея проекта для обсуждения</a:t>
            </a:r>
          </a:p>
        </p:txBody>
      </p:sp>
    </p:spTree>
    <p:extLst>
      <p:ext uri="{BB962C8B-B14F-4D97-AF65-F5344CB8AC3E}">
        <p14:creationId xmlns:p14="http://schemas.microsoft.com/office/powerpoint/2010/main" val="979266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4B4E0-0FC6-40F2-8ABF-0ADA388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После автоматического входа контроль резко падает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EA85D-D7CB-4EFD-A6B8-4EA8160B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Наблюдения из реального использования Polyfox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1E88B-7674-45E0-8EE7-CDD9F894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17D85-273D-4D61-A51E-6786A0E6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89ECE-15FA-420C-AF56-C13E16CA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38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Источник позиции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3AD66-AEBC-446A-A5BA-C594A7DB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0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Трудно понять, какой трейдер открыл конкретную позицию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E1481-9249-444E-BC86-70BEF79B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46C49-F4F8-4A50-9AB9-92B452DE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10FE0-7644-4E48-AA3A-33235678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Фактический результат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5B236-9033-4538-9A9C-C76E059F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670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Не видно разницы между результатом лидера и копировщика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1514A-2952-402A-84F2-E47C68B3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909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B1909-011F-4B9D-B9F2-43F2395C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57BAA-BDDC-41A1-A524-8E5F71C5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Ручное управление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F3EEF-FA54-4D34-A1B8-1D02EBEE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Частичное закрытие и отсоединение позиции остаются неочевидными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9AEB3-1F03-4544-A951-4355F4B4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577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24713-7877-4CB0-A8B3-548F77B6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25619-7A06-4856-BEC7-FCCD8D08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Риск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D741B-9FEE-4A3A-BD9E-B29E550F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006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Нет единой картины лимитов, свободного резерва и экспозиций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F4A8A-2B60-48EF-B655-86AC22BF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245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AC0D3-F43A-44B8-A0CF-616ADA36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816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6B62"/>
                </a:solidFill>
                <a:latin typeface="Arial"/>
                <a:ea typeface="Arial"/>
                <a:cs typeface="Arial"/>
              </a:rPr>
              <a:t>Автоматизация без объяснимости превращает удобство в новый источник риска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1ADF2-8C37-4A16-988A-80A622D1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C52E9-6F95-4E95-A6B4-074A5CAB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4596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94A95-A0A7-44A2-A68D-28E27B3C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Контроль на уровне позиции и всего портфеля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6D11D-1906-43BE-96E9-B7CE5969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Продукт объясняет каждое действие и оставляет решение пользователю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BD716-E8BD-4632-9596-85275C48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81E84-9CA5-4849-8A0A-6BE58240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Пользователь видит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890A3-4393-4E1B-8D24-85D4A3F3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кто создал позицию</a:t>
            </a:r>
          </a:p>
          <a:p xmlns:a="http://schemas.openxmlformats.org/drawingml/2006/main">
            <a:pPr algn="l"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 какой цене исполнилась копия</a:t>
            </a:r>
          </a:p>
          <a:p xmlns:a="http://schemas.openxmlformats.org/drawingml/2006/main">
            <a:pPr algn="l"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сколько стоили задержка и проскальзывание</a:t>
            </a:r>
          </a:p>
          <a:p xmlns:a="http://schemas.openxmlformats.org/drawingml/2006/main">
            <a:pPr algn="l"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почему сделка исполнена частично или пропущена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FACE6-F989-4B4B-8110-3CC78C1A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Пользователь управляет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D303E-D4D8-45B0-9DEB-823C4AE2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частичным или полным закрытием</a:t>
            </a:r>
          </a:p>
          <a:p xmlns:a="http://schemas.openxmlformats.org/drawingml/2006/main">
            <a:pPr algn="l"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отсоединением позиции от трейдера</a:t>
            </a:r>
          </a:p>
          <a:p xmlns:a="http://schemas.openxmlformats.org/drawingml/2006/main">
            <a:pPr algn="l"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лимитами капитала и убытка</a:t>
            </a:r>
          </a:p>
          <a:p xmlns:a="http://schemas.openxmlformats.org/drawingml/2006/main">
            <a:pPr algn="l"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остановкой одного трейдера или всей системы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122B2-7C61-4B1C-9085-20E3A739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857750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0B243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DB4D6-46BD-4E25-84D7-7E31B30A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193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Главный принцип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A21CC-2CCB-446C-B043-1BB264DF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955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После автоматического входа пользователь сохраняет полный контроль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ED1E1-7429-447E-AD2F-7A42C779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00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526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58937-3FA7-4CC8-8A89-BB4EF9D6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577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ED2D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ED2DC"/>
                </a:solidFill>
                <a:latin typeface="Arial"/>
                <a:ea typeface="Arial"/>
                <a:cs typeface="Arial"/>
              </a:rPr>
              <a:t>Позиция может следовать за трейдером, быть частично изменена, отсоединена или закрыта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A8FF1-BDFF-4FD3-9F07-26455E8C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89E58-3EDC-478F-A430-9BAA04C1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4142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4C885-2AD0-4A97-A62A-A8210095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Как работает копирование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3434B-B616-4360-8C9A-3192F06C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Одна объяснимая цепочка от события лидера до позиции пользователя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C63C1-ECA0-4F63-99EA-96D7291C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7C181-2392-4FBB-BFD2-CBCEDEDC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ED1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84734-28E2-4CB7-9157-BF921E5E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296ED-CF1F-4A8D-B6CA-80DE36F5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0DC99-63E8-4960-9C28-E5BB841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Сделка лидера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08511-A9BC-499D-ABB2-1993BC81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событие и время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EDA1F-48E2-44B8-B975-73FD4FCB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EF897-C52B-4F27-AAC4-7742B9DD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16A25-5ED1-43CE-BE71-8D2A8255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Расчёт копии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35D61-1E11-4EE0-B468-10636BFD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размер и цена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C647F-B5D3-4A46-BCA6-5ACDB56F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E44A0-3AFB-48DA-8D10-368614A0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C55DD-30DE-421B-B7B2-326B0CA3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Проверка риска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A5FFD-FB5A-49E4-9FA5-3A6C3D06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лимиты и резерв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2536E-EEB5-4069-AAF6-ED9BACD4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F8044-B444-4471-AEA7-2789B81A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02EFD-D086-47B2-B374-1C0FC025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Исполнение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B811B-A00B-44CC-96E5-97D34596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ордер и fills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A1944-E468-4A77-B670-13FC7650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E95D9-AD7C-4A29-8551-E3A3BF76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86BAF-4802-4902-BC0F-A5C46D70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Виртуальный лот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0C859-69BA-47C1-8614-9FA0CC6F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источник и P&amp;L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3E0E9-47BF-4176-8833-E3E5D131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48250"/>
            <a:ext cx="87249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EEF75-0F53-4D99-8EEC-7FDDF259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53025"/>
            <a:ext cx="796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Журнал связывает исходную сделку, решение risk engine и фактическое исполнение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44C33-6680-4680-9572-BAA16B49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A1FB71-0603-4B4A-AE2C-2755016E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80272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8E8EE-E4C7-40A4-BD52-9677DA54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Пять экранов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7D2EC-9B87-4B90-A2B4-F1BEAA3C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7D2"/>
                </a:solidFill>
                <a:latin typeface="Arial"/>
                <a:ea typeface="Arial"/>
                <a:cs typeface="Arial"/>
              </a:rPr>
              <a:t>Минимальный интерфейс для ежедневного контроля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BF639-1357-45CB-9FF6-2F23AD8A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95550"/>
            <a:ext cx="15240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94C"/>
          </a:solidFill>
          <a:ln xmlns:a="http://schemas.openxmlformats.org/drawingml/2006/main" w="9525">
            <a:solidFill>
              <a:srgbClr val="2B6B7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80272-C722-4861-972B-09CBF54B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BF5DB-B0CD-4CFD-874F-AD522B22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Портфель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99D60-7B8C-4C1D-9EFE-98EBB136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баланс, P&amp;L, резерв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2227B-9CBA-437E-95B0-D44E31A9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Позиции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02927-76EE-4E39-A32E-5AC9F728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закрыть или отсоединить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10A16-9409-4267-8DA0-B42742A9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Трейдеры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F4101-D8A4-457D-9546-339A35D1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история и настройки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11A7A-2EF2-4F94-92E9-FF761002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08500-2068-4393-A194-7A4528FF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что произошло и почему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FE2DF-425D-4539-81E4-792A666D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96B62"/>
                </a:solidFill>
                <a:latin typeface="Arial"/>
                <a:ea typeface="Arial"/>
                <a:cs typeface="Arial"/>
              </a:rPr>
              <a:t>Риск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C8477-CF23-4A19-B84C-54616059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лимиты и остановка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A411D-BA5E-4987-97CB-A657BE13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184785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EF499-1937-47FC-8776-44249452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184785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E26BD-19C7-4710-8025-884715F3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33600"/>
            <a:ext cx="70485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E0FD5-10D7-4E31-B9E3-F277BDDD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76600"/>
            <a:ext cx="1257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9296F-CCB8-4BCF-AFDC-A95DEE0B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33800"/>
            <a:ext cx="70485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48746-B983-440F-8FCF-62DB9F9D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B9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E8B9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91417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DB241-C1EE-488F-B616-8A8090E9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Конкурентный разрыв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BD8FC-2329-488A-AF75-BB624226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Возможность находится в контроле и прозрачности после входа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A483E-5775-4B1D-8FA0-823985D5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429000"/>
                <a:gridCol w="4152900"/>
              </a:tblGrid>
              <a:tr h="53067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0B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Polyfox</a:t>
                      </a:r>
                    </a:p>
                  </a:txBody>
                  <a:tcPr marL="91440" marR="91440" marT="45720" marB="45720">
                    <a:solidFill>
                      <a:srgbClr val="0B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Наш продукт</a:t>
                      </a:r>
                    </a:p>
                  </a:txBody>
                  <a:tcPr marL="91440" marR="91440" marT="45720" marB="45720">
                    <a:solidFill>
                      <a:srgbClr val="087F7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Автокопирование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Есть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Есть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Комиссия сервиса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1% с каждой сделки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Гипотеза 0,25–0,5%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P&amp;L по лидеру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Недостаточно прозрачно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Фактический P&amp;L копировщика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Управление позицией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Ограничено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Частичное закрытие и detach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Объяснение исполнения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Неполное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Полный журнал причин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Портфельный риск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Фрагментарно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Единые лимиты и stop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D4817-4C49-4B09-A9EC-E8BD0E96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6B62"/>
                </a:solidFill>
                <a:latin typeface="Arial"/>
                <a:ea typeface="Arial"/>
                <a:cs typeface="Arial"/>
              </a:rPr>
              <a:t>1% взимается отдельно с объёма покупки и продажи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EF6F4-2244-4224-AF9F-CBBBA5AC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8B02A-06E5-422E-91A3-92193802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64730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71057-7A7E-42E7-A8DC-6629E056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Одна площадка для проверки, вторая для роста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98113-0C57-43A2-ABB0-37B64A51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Мультиплатформенность остаётся архитектурной возможностью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18066-E878-4075-A6D5-130C5EF3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CDCC3-E975-4273-B1DD-4AE0C7B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Сейчас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314D1-4859-4B51-9B1D-F9205C29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Polymarket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2362C-CD8D-421E-9E0F-9EC77F57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Личный прототип</a:t>
            </a:r>
          </a:p>
          <a:p xmlns:a="http://schemas.openxmlformats.org/drawingml/2006/main">
            <a:pPr algn="l"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3–5 лидеров</a:t>
            </a:r>
          </a:p>
          <a:p xmlns:a="http://schemas.openxmlformats.org/drawingml/2006/main">
            <a:pPr algn="l"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paper trading и малые реальные сделки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12205-230A-4488-AF9F-C76016E1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F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30CF0-C744-4B43-8FD5-A93E3143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После подтверждения ценности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4D448-C6A6-427F-8826-A04C5740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Limitless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7E094-1D25-4F5C-8C3C-0E16FCE6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051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Отдельная проверка API и ликвидности</a:t>
            </a:r>
          </a:p>
          <a:p xmlns:a="http://schemas.openxmlformats.org/drawingml/2006/main">
            <a:pPr algn="l"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адаптер исполнения на Base</a:t>
            </a:r>
          </a:p>
          <a:p xmlns:a="http://schemas.openxmlformats.org/drawingml/2006/main">
            <a:pPr algn="l"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расширение рынка без усложнения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BA4A2-F875-486B-B328-6DF13EE0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0203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DFEFE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617C6-1272-4226-B14B-C3A28B07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Общие слои продукта: risk engine, виртуальные лоты, журнал и портфель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008C0-38EA-48CA-92A4-1E894919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8F963-347F-4017-9F4C-A7401F8B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574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AB396-53A0-44AF-9DB2-953D810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Три горизонта развития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7BA1E-F54E-4196-A212-49CD6D88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7D2"/>
                </a:solidFill>
                <a:latin typeface="Arial"/>
                <a:ea typeface="Arial"/>
                <a:cs typeface="Arial"/>
              </a:rPr>
              <a:t>Рост начинается только после подтверждения предыдущего уровня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DAAC9-0550-4F5B-A536-D61684BE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8770E-A3BC-4192-9CAE-F6C39EAC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52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Нишевый продукт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CF830-C6C9-4FF4-9D88-9833CB8F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5260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4D6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D6DE"/>
                </a:solidFill>
                <a:latin typeface="Arial"/>
                <a:ea typeface="Arial"/>
                <a:cs typeface="Arial"/>
              </a:rPr>
              <a:t>Контролируемое копирование на Polymarket для активных пользователей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EF139-9283-42A5-BAAA-547DC3E0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890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9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50F34-E816-4248-967E-E404F54C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539A5-E4DB-4453-8177-B3F8F051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05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Единый слой управления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C2862-9443-4884-A64D-52DBF939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0515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4D6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D6DE"/>
                </a:solidFill>
                <a:latin typeface="Arial"/>
                <a:ea typeface="Arial"/>
                <a:cs typeface="Arial"/>
              </a:rPr>
              <a:t>Общий портфель и risk engine для Polymarket, Limitless и следующих площадок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8C63C-739D-4EE2-9D2E-40D0DAD2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814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95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9DD58-24A4-4621-A380-BB7C8142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AE222-2918-42EC-9377-A4D334E1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577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B2B-инфраструктура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0AF34-06AE-49E8-AFAD-604465ED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770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4D6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D6DE"/>
                </a:solidFill>
                <a:latin typeface="Arial"/>
                <a:ea typeface="Arial"/>
                <a:cs typeface="Arial"/>
              </a:rPr>
              <a:t>API и white-label исполнение, учёт и риск для партнёров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E92A3-7D70-4949-893D-6A952AF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16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02D21-F4B3-436B-BA97-CC4173A5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Самая реалистичная ближайшая цель: полезный нишевый продукт с измеримой экономикой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C528A-3C74-4998-8A8A-62D65C2D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B9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E8B9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09779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6C5C7-9232-4BFA-B630-EC5EB571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Что определит перспективы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87FB4-8255-4376-9C33-6779577F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Защищаемое преимущество должно появиться в данных и надёжности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A83D0-3185-4203-8663-4E32C719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7E116-FFEE-4436-ADA9-1F9C17E8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9FEF7-C441-42C4-8DE8-C14C4CE6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19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Качество копирования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C4DB8-95D8-42AB-A569-94A5E6DE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Задержка и издержки не уничтожают результат лидера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7879B-EF15-4A71-90E9-2AA12580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6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E5393-659D-4977-9E63-65F7DC6E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860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Надёжный учёт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9CFDE-7608-4544-B310-FE1103D1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86025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Нет дублей и необъяснённых расхождений виртуальных лотов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D48CC-ECE4-40D4-B3FF-7B960644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3436A-55F3-4B37-95ED-39F49800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Реальное использование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BF614-5A00-41DE-8652-A9389B7A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Пользователи возвращаются и применяют функции контроля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AE4D2-8CC6-4455-A83A-43975794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F8D3F-6DAD-49EC-BB40-2F03CF0C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Готовность платить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61819-03DB-4AF6-8AA9-BD6E2396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Комиссия покрывает поддержку и сохраняет пользу для клиента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37F8A-24F5-4550-A8D6-4B1AEA59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B6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3AE1F-A096-4324-BCFB-88D7994E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Допустимая модель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F0E2D-45A6-4884-9C09-FF652C4F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86350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Безопасная авторизация и жизнеспособный белый список стран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563CA-B608-44AC-8C1A-9A7241A6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191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E5FBB-A854-4B64-8C4A-AEAC0A99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Если автоматическое исполнение не проходит проверку, продукт может перейти в аналитику, сигналы или B2B risk tooling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A65073-A14C-4A2F-BA58-2B7AEDE2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76A29-A162-4FB5-A993-4667A734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385694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90F75-1513-4DC2-B541-4C3FFF55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Экономика зависит от исполненного объёма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493B4-F653-4885-A9F8-D24C968A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Сценарии показывают порядок величины, а не прогноз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D93DA-C446-48D1-ACBE-56EB393D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8f2e4c2b784a1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C3A25-BFF2-4C76-A53A-2676A547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33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Рабочая формула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44630-AB40-464D-9F2B-CA301ABE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323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выручка =</a:t>
            </a:r>
          </a:p>
          <a:p xmlns:a="http://schemas.openxmlformats.org/drawingml/2006/main">
            <a:pPr algn="l">
              <a:defRPr sz="19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исполненный объём × комиссия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7AB9A-94E5-4B82-AA87-A2D4B47E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766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34E57-0A90-44A9-9CB1-20EF3BB8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100 пользователей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30E81-57FC-410D-8485-A471A6C8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67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$750 тыс. объёма × 0,35%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939EC-4322-412B-A20E-6942DD21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624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$2 625 в 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3F240-CF7B-4752-B57D-564B86E2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101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96B62"/>
                </a:solidFill>
                <a:latin typeface="Arial"/>
                <a:ea typeface="Arial"/>
                <a:cs typeface="Arial"/>
              </a:rPr>
              <a:t>Комиссия должна сохранять положительную экономику пользователя после спреда и проскальзывания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2AC29-7A83-4580-BD2A-28B689F6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BAD90-3D2C-415B-8580-C92A37F1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4654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70E46B-B835-4428-9304-6E71CC2D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Проверка идеи до масштабирования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685B0-997C-4CA6-853B-98F9F51C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Каждый этап отвечает на один риск и имеет критерий перехода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FA179-757E-4E5E-8044-03F2B738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A5F6D-577F-44BB-9547-63D33007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84D1E-DA4E-4AC0-83A2-44BB9011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527E5-26BB-4402-9968-3409B5D7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00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UX-аудит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DED2F-AE34-4051-8597-819BB4AE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Понимают ли люди контроль и риск?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B8CAF-A120-4BCF-B2BC-D170CF8C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17917-4FC4-44FB-86EB-DAB71306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FAA36-A3B6-4E9E-BCB4-C545E18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75A6D-BE4E-4115-A876-852714B0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Технические эксперименты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3E5F4-8C44-4C70-A918-2EB675EE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Можно ли копировать без дублей и потери состояния?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A3646-F2DD-4951-83CA-8F5AF64E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1531A-E076-4115-9F9E-6A5A0F2E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0AFA1-0905-4305-B3BB-1DFAF2EA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C5644-0F8E-4B33-A132-AA542D35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Paper trading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F3D35-B18E-4CDA-BBE0-9770FEC5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Каковы задержка, проскальзывание и полнота данных?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32C89-1D26-4065-81C6-3F476043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22FA2-DD2C-413D-B605-65AE4687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77F9B-C56F-48BF-A87B-BDC931AA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45295-4CFC-44C2-96D7-AEF01362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29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Личный live-тест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30435-EB1B-430F-88B5-C4268F7C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291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Сходится ли фактическое исполнение с моделью?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2D1F8-2CF3-4818-BF49-6516CEF6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05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28C2C-628A-4D2C-ACE0-46EA4433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A1AB8A-EB82-45DB-AA63-ACD138F4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088356-80D9-4516-9383-910BADB4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Закрытая альфа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34DF8-70F8-4D9A-974A-14CAE9E5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Возвращаются ли пользователи и готовы ли платить?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3F12C-156C-4004-8B19-7941A4C2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75975F-736B-4D22-B319-B63B50D5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000665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9D5A8-3F00-4183-9130-E7AB8397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хотим проверить вместе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6EAC7-30B3-4066-86C1-77C1B11E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8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8D3"/>
                </a:solidFill>
                <a:latin typeface="Arial"/>
                <a:ea typeface="Arial"/>
                <a:cs typeface="Arial"/>
              </a:rPr>
              <a:t>Сейчас ценнее честная обратная связь, чем обещание масштабного запуска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849FC-7B5E-4A36-9B54-BC0B3CB4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A86CC-965C-495D-8079-7FDDD818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79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4A3C6-BE36-4FD0-95D5-15E775FF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479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Какая часть контроля действительно нужна после автоматического входа?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95BC4-EBCD-4A82-965C-BE9F9DB6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AE23E-555B-4F9F-9C29-BEE35C32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09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Тестирование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1DFE9-620F-4D3C-B92C-93F090D4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Кто готов пройти прототип и объяснить, где теряется понимание?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F7FEA-369F-44CD-82C5-65498BA6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43CB0-F8BA-4272-BFED-3A016D66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72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Экспертиза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138A5-9A1D-402E-BEF0-55841760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Кто может помочь с prediction markets, безопасностью кошельков или регулированием?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6F3E5-98BB-468D-8499-A66EA1A3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13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B5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C9534-3C93-491C-8519-B9940767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Следующий результат: UX-аудит, user flow и прототип пяти экранов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716CC-EFBF-4F6B-865B-B2A5D7B0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B9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E8B9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1870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2026-09-23T13:39:13.6890000Z</dcterms:created>
  <dcterms:modified xsi:type="dcterms:W3CDTF">2026-09-23T13:39:13.6890000Z</dcterms:modified>
</coreProperties>
</file>